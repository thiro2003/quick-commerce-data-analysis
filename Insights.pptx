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2B0A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0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0A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0A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0A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0A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B0A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B0A3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B0A3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B0A3D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Snacks &amp; Packaged</c:v>
                  </c:pt>
                  <c:pt idx="1">
                    <c:v>Household</c:v>
                  </c:pt>
                  <c:pt idx="2">
                    <c:v>Personal Care</c:v>
                  </c:pt>
                  <c:pt idx="3">
                    <c:v>Beverages</c:v>
                  </c:pt>
                  <c:pt idx="4">
                    <c:v>Fruits &amp; Veg</c:v>
                  </c:pt>
                  <c:pt idx="5">
                    <c:v>Bakery</c:v>
                  </c:pt>
                  <c:pt idx="6">
                    <c:v>Dairy &amp; Eggs</c:v>
                  </c:pt>
                  <c:pt idx="7">
                    <c:v>Meat &amp; Seafood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</c:v>
                </c:pt>
                <c:pt idx="1">
                  <c:v>38.3</c:v>
                </c:pt>
                <c:pt idx="2">
                  <c:v>35.3</c:v>
                </c:pt>
                <c:pt idx="3">
                  <c:v>23.6</c:v>
                </c:pt>
                <c:pt idx="4">
                  <c:v>23.5</c:v>
                </c:pt>
                <c:pt idx="5">
                  <c:v>17.6</c:v>
                </c:pt>
                <c:pt idx="6">
                  <c:v>16.5</c:v>
                </c:pt>
                <c:pt idx="7">
                  <c:v>5.6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B0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4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per ₹1</c:v>
                </c:pt>
              </c:strCache>
            </c:strRef>
          </c:tx>
          <c:spPr>
            <a:solidFill>
              <a:srgbClr val="2B0A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0A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0A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0A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0A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0A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B0A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326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FLAT75</c:v>
                  </c:pt>
                  <c:pt idx="1">
                    <c:v>NEW100</c:v>
                  </c:pt>
                  <c:pt idx="2">
                    <c:v>CITY150</c:v>
                  </c:pt>
                  <c:pt idx="3">
                    <c:v>WEEKEND15</c:v>
                  </c:pt>
                  <c:pt idx="4">
                    <c:v>SAVE20</c:v>
                  </c:pt>
                  <c:pt idx="5">
                    <c:v>FRESH50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1.02</c:v>
                </c:pt>
                <c:pt idx="1">
                  <c:v>0.74</c:v>
                </c:pt>
                <c:pt idx="2">
                  <c:v>0.64</c:v>
                </c:pt>
                <c:pt idx="3">
                  <c:v>0.45</c:v>
                </c:pt>
                <c:pt idx="4">
                  <c:v>0.07</c:v>
                </c:pt>
                <c:pt idx="5">
                  <c:v>-0.62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B0A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4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rohit-sul-780265283/" TargetMode="External"/><Relationship Id="rId2" Type="http://schemas.openxmlformats.org/officeDocument/2006/relationships/hyperlink" Target="https://github.com/your-usernam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0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822960"/>
            <a:ext cx="3840480" cy="3840480"/>
          </a:xfrm>
          <a:prstGeom prst="ellipse">
            <a:avLst/>
          </a:prstGeom>
          <a:solidFill>
            <a:srgbClr val="FF3269"/>
          </a:solidFill>
          <a:ln w="12700">
            <a:solidFill>
              <a:srgbClr val="FF32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108960"/>
            <a:ext cx="2377440" cy="2377440"/>
          </a:xfrm>
          <a:prstGeom prst="ellipse">
            <a:avLst/>
          </a:prstGeom>
          <a:solidFill>
            <a:srgbClr val="4A1666"/>
          </a:solidFill>
          <a:ln w="12700">
            <a:solidFill>
              <a:srgbClr val="4A16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zipto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Store Down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3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3: Product &amp; Promotions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we selling, and what are the discounts costing us?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5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Noida cluster review  |  10 dark stores  |  18 May to 28 Jun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we selling?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orders only: units, revenue and margin by category and product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476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2.44 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 across 8 categories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7830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9476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₹2.67 Cr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revenue on delivered orders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9476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(line revenue less COGS)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17830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0" y="19476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SKUs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perishable and 26 non-perishable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2B0A3D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611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analysed it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order_items joined to products on SKU, filtered to delivered orders (reconciles to 2,43,754 units), then grouped by category and product in Excel pivots.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is not profit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% by category (delivered orders)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2588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371600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5EFFA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Meat &amp; Seafood is the weak spot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783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17.5K units sold at just 5.6% margin, while Snacks earn 39%.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03520" y="2560320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5EFFA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0" y="2670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Best-seller trap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Lemon Iced Tea is #1 by net revenue (₹9.4L) but sells below cost.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03520" y="3749040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5EFFA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SKUs lose money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4160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about -9% margin, they lose ₹2.86L (12% of revenue).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did discounts cost us?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promo codes on delivered orders, judged on cost and contribution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476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 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given on 11,096 promo orders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7830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9476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delivered orders used a promo code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9476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margin on promo orders vs 20.8% without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17830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0" y="1947672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₹0.08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2560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earned per ₹1 of discount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2B0A3D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611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Rule-breaking promos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1,825 delivered orders used a code outside its validity window or below its minimum basket, costing ₹2.66L in discounts.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code is burning the money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earned per ₹1 of discount, by promo code (from the Excel dashboard)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2588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371600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5EFFA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FRESH50 loses ₹2.76L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1783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off drives -62.6% contribution; 61% of its orders broke promo rules.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03520" y="2560320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5EFFA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0" y="2670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SAVE20 is the volume trap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0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₹4.32L discount for only 1.7% contribution margin.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03520" y="3749040"/>
            <a:ext cx="3474720" cy="1051560"/>
          </a:xfrm>
          <a:prstGeom prst="roundRect">
            <a:avLst>
              <a:gd name="adj" fmla="val 10435"/>
            </a:avLst>
          </a:prstGeom>
          <a:solidFill>
            <a:srgbClr val="F5EFFA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FLAT75 pays back ₹1.02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0" y="4160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flat ₹75 off is the only code returning more than it costs.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per month = 6-week total ÷ 1.4 months (42 days)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44752"/>
            <a:ext cx="402336" cy="402336"/>
          </a:xfrm>
          <a:prstGeom prst="ellipse">
            <a:avLst/>
          </a:prstGeom>
          <a:solidFill>
            <a:srgbClr val="FF3269"/>
          </a:solidFill>
          <a:ln w="12700">
            <a:solidFill>
              <a:srgbClr val="FF32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44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99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or redesign FRESH50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733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₹2,75,876 ÷ 1.4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417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+₹1.97 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94560"/>
            <a:ext cx="402336" cy="402336"/>
          </a:xfrm>
          <a:prstGeom prst="ellipse">
            <a:avLst/>
          </a:prstGeom>
          <a:solidFill>
            <a:srgbClr val="FF3269"/>
          </a:solidFill>
          <a:ln w="12700">
            <a:solidFill>
              <a:srgbClr val="FF32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Reprice or delist the 6 loss-making SKUs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23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₹2,85,747 ÷ 1.4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167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+₹2.04 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2825496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944368"/>
            <a:ext cx="402336" cy="402336"/>
          </a:xfrm>
          <a:prstGeom prst="ellipse">
            <a:avLst/>
          </a:prstGeom>
          <a:solidFill>
            <a:srgbClr val="FF3269"/>
          </a:solidFill>
          <a:ln w="12700">
            <a:solidFill>
              <a:srgbClr val="FF32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898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SAVE20 from 20% to 15%, scale FLAT75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172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₹4,32,434 × 25% ÷ 1.4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9169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+₹0.77 L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3575304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3D5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694176"/>
            <a:ext cx="402336" cy="402336"/>
          </a:xfrm>
          <a:prstGeom prst="ellipse">
            <a:avLst/>
          </a:prstGeom>
          <a:solidFill>
            <a:srgbClr val="FF3269"/>
          </a:solidFill>
          <a:ln w="12700">
            <a:solidFill>
              <a:srgbClr val="FF326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3648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promo validity and min basket at checkout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9227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₹83,557 ÷ 1.4 (other codes)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6667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+₹0.60 L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4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make us wrong: if these codes drive extra orders we cannot see here, cutting them loses volume. Pilot in 2 stores first. Estimates overlap slightly, so do not add them.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0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108960"/>
            <a:ext cx="3291840" cy="3291840"/>
          </a:xfrm>
          <a:prstGeom prst="ellipse">
            <a:avLst/>
          </a:prstGeom>
          <a:solidFill>
            <a:srgbClr val="FF3269"/>
          </a:solidFill>
          <a:ln w="12700">
            <a:solidFill>
              <a:srgbClr val="FF326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C9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connect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linkedin.com/in/rohit-sul-780265283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2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github.com/your-username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Zipto Dark Store Down - Lane 3 Insights</dc:title>
  <dc:subject>PptxGenJS Presentation</dc:subject>
  <dc:creator>PptxGenJS</dc:creator>
  <cp:lastModifiedBy>PptxGenJS</cp:lastModifiedBy>
  <cp:revision>1</cp:revision>
  <dcterms:created xsi:type="dcterms:W3CDTF">2026-10-05T02:07:06Z</dcterms:created>
  <dcterms:modified xsi:type="dcterms:W3CDTF">2026-10-05T02:07:06Z</dcterms:modified>
</cp:coreProperties>
</file>